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2" r:id="rId2"/>
    <p:sldId id="306" r:id="rId3"/>
    <p:sldId id="30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Rg st="1" end="46"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4F8A"/>
    <a:srgbClr val="000019"/>
    <a:srgbClr val="0088EE"/>
    <a:srgbClr val="5195D3"/>
    <a:srgbClr val="007AD6"/>
    <a:srgbClr val="0067B4"/>
    <a:srgbClr val="85BD5F"/>
    <a:srgbClr val="537F35"/>
    <a:srgbClr val="6AA3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40" autoAdjust="0"/>
    <p:restoredTop sz="94660" autoAdjust="0"/>
  </p:normalViewPr>
  <p:slideViewPr>
    <p:cSldViewPr snapToGrid="0">
      <p:cViewPr varScale="1">
        <p:scale>
          <a:sx n="104" d="100"/>
          <a:sy n="104" d="100"/>
        </p:scale>
        <p:origin x="1146" y="114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9CFFE8-8FC9-4599-B99A-BD3C0BAF46DB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CF7FDF-C261-4D64-8B14-5847BB6534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9889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CF7FDF-C261-4D64-8B14-5847BB65348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639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7">
            <a:extLst>
              <a:ext uri="{FF2B5EF4-FFF2-40B4-BE49-F238E27FC236}">
                <a16:creationId xmlns:a16="http://schemas.microsoft.com/office/drawing/2014/main" id="{BC4DA297-0F89-4FBD-8951-873E4C5F4833}"/>
              </a:ext>
            </a:extLst>
          </p:cNvPr>
          <p:cNvSpPr/>
          <p:nvPr userDrawn="1"/>
        </p:nvSpPr>
        <p:spPr>
          <a:xfrm>
            <a:off x="0" y="71438"/>
            <a:ext cx="1095375" cy="914400"/>
          </a:xfrm>
          <a:custGeom>
            <a:avLst/>
            <a:gdLst>
              <a:gd name="connsiteX0" fmla="*/ 0 w 1095825"/>
              <a:gd name="connsiteY0" fmla="*/ 0 h 914400"/>
              <a:gd name="connsiteX1" fmla="*/ 1095825 w 1095825"/>
              <a:gd name="connsiteY1" fmla="*/ 0 h 914400"/>
              <a:gd name="connsiteX2" fmla="*/ 608144 w 1095825"/>
              <a:gd name="connsiteY2" fmla="*/ 914400 h 914400"/>
              <a:gd name="connsiteX3" fmla="*/ 0 w 1095825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95825" h="914400">
                <a:moveTo>
                  <a:pt x="0" y="0"/>
                </a:moveTo>
                <a:lnTo>
                  <a:pt x="1095825" y="0"/>
                </a:lnTo>
                <a:lnTo>
                  <a:pt x="608144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004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" name="矩形 8">
            <a:extLst>
              <a:ext uri="{FF2B5EF4-FFF2-40B4-BE49-F238E27FC236}">
                <a16:creationId xmlns:a16="http://schemas.microsoft.com/office/drawing/2014/main" id="{E5522A88-BC90-4E7A-A97A-98C6953F07C0}"/>
              </a:ext>
            </a:extLst>
          </p:cNvPr>
          <p:cNvSpPr/>
          <p:nvPr userDrawn="1"/>
        </p:nvSpPr>
        <p:spPr>
          <a:xfrm>
            <a:off x="0" y="-1587"/>
            <a:ext cx="12192000" cy="73025"/>
          </a:xfrm>
          <a:prstGeom prst="rect">
            <a:avLst/>
          </a:prstGeom>
          <a:solidFill>
            <a:srgbClr val="004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9" name="图片 10">
            <a:extLst>
              <a:ext uri="{FF2B5EF4-FFF2-40B4-BE49-F238E27FC236}">
                <a16:creationId xmlns:a16="http://schemas.microsoft.com/office/drawing/2014/main" id="{AF0F397E-720B-4A1D-9362-6977186269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25" y="238125"/>
            <a:ext cx="528638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DCEAA347-679E-4E4B-89F0-7CEEAE75F2F1}"/>
              </a:ext>
            </a:extLst>
          </p:cNvPr>
          <p:cNvSpPr/>
          <p:nvPr userDrawn="1"/>
        </p:nvSpPr>
        <p:spPr>
          <a:xfrm>
            <a:off x="0" y="6784975"/>
            <a:ext cx="12192000" cy="73025"/>
          </a:xfrm>
          <a:prstGeom prst="rect">
            <a:avLst/>
          </a:prstGeom>
          <a:solidFill>
            <a:srgbClr val="004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3" name="灯片编号占位符 4">
            <a:extLst>
              <a:ext uri="{FF2B5EF4-FFF2-40B4-BE49-F238E27FC236}">
                <a16:creationId xmlns:a16="http://schemas.microsoft.com/office/drawing/2014/main" id="{282E52F3-72B0-4C71-887B-33F60E7CE2B5}"/>
              </a:ext>
            </a:extLst>
          </p:cNvPr>
          <p:cNvSpPr txBox="1">
            <a:spLocks/>
          </p:cNvSpPr>
          <p:nvPr userDrawn="1"/>
        </p:nvSpPr>
        <p:spPr>
          <a:xfrm>
            <a:off x="11619457" y="6329363"/>
            <a:ext cx="19431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891ECF5-5718-4DCF-858F-8314BFFB6E47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0250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圆角矩形 10">
            <a:extLst>
              <a:ext uri="{FF2B5EF4-FFF2-40B4-BE49-F238E27FC236}">
                <a16:creationId xmlns:a16="http://schemas.microsoft.com/office/drawing/2014/main" id="{0884A440-B3F8-4DEB-AC23-AD6BF5FA87DA}"/>
              </a:ext>
            </a:extLst>
          </p:cNvPr>
          <p:cNvSpPr/>
          <p:nvPr/>
        </p:nvSpPr>
        <p:spPr>
          <a:xfrm>
            <a:off x="-5273" y="1769900"/>
            <a:ext cx="12192001" cy="1952952"/>
          </a:xfrm>
          <a:prstGeom prst="roundRect">
            <a:avLst>
              <a:gd name="adj" fmla="val 0"/>
            </a:avLst>
          </a:prstGeom>
          <a:solidFill>
            <a:srgbClr val="004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b="1" dirty="0">
                <a:latin typeface="+mj-ea"/>
                <a:ea typeface="+mj-ea"/>
                <a:cs typeface="Arial" panose="020B0604020202020204" pitchFamily="34" charset="0"/>
              </a:rPr>
              <a:t>软件开发与工具平台</a:t>
            </a:r>
            <a:endParaRPr lang="en-US" altLang="zh-CN" sz="4400" b="1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4CCBF614-8847-4C72-9B5E-E5820E997344}"/>
              </a:ext>
            </a:extLst>
          </p:cNvPr>
          <p:cNvSpPr txBox="1">
            <a:spLocks noChangeArrowheads="1"/>
          </p:cNvSpPr>
          <p:nvPr/>
        </p:nvSpPr>
        <p:spPr>
          <a:xfrm>
            <a:off x="4226463" y="4111624"/>
            <a:ext cx="3739073" cy="156527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spcBef>
                <a:spcPct val="20000"/>
              </a:spcBef>
              <a:buChar char="•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har char="–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har char="»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latin typeface="+mn-ea"/>
              </a:rPr>
              <a:t>何雨涵</a:t>
            </a:r>
            <a:endParaRPr lang="en-US" altLang="zh-CN" sz="2000" b="1" dirty="0">
              <a:latin typeface="+mn-ea"/>
            </a:endParaRPr>
          </a:p>
          <a:p>
            <a:pPr algn="ctr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sv-SE" sz="2000" dirty="0">
                <a:latin typeface="+mn-ea"/>
              </a:rPr>
              <a:t>heyh25@m.fudan.edu.cn</a:t>
            </a:r>
          </a:p>
          <a:p>
            <a:pPr algn="ctr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>
                <a:latin typeface="+mn-ea"/>
              </a:rPr>
              <a:t>信息科学与工程学院</a:t>
            </a:r>
            <a:endParaRPr lang="en-US" altLang="zh-CN" sz="2000" dirty="0">
              <a:latin typeface="+mn-ea"/>
            </a:endParaRPr>
          </a:p>
          <a:p>
            <a:pPr algn="ctr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sv-SE" sz="2000" dirty="0">
                <a:latin typeface="+mn-ea"/>
              </a:rPr>
              <a:t>2026.4.20</a:t>
            </a:r>
          </a:p>
        </p:txBody>
      </p:sp>
      <p:sp>
        <p:nvSpPr>
          <p:cNvPr id="11" name="AutoShape 56" descr="“kth logo”的图片搜索结果">
            <a:extLst>
              <a:ext uri="{FF2B5EF4-FFF2-40B4-BE49-F238E27FC236}">
                <a16:creationId xmlns:a16="http://schemas.microsoft.com/office/drawing/2014/main" id="{E8CC6F9D-09C6-49AD-9449-BF42FEF861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38327" y="3073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sv-SE" sz="1800" dirty="0"/>
          </a:p>
        </p:txBody>
      </p:sp>
      <p:sp>
        <p:nvSpPr>
          <p:cNvPr id="12" name="AutoShape 58" descr="“kth logo”的图片搜索结果">
            <a:extLst>
              <a:ext uri="{FF2B5EF4-FFF2-40B4-BE49-F238E27FC236}">
                <a16:creationId xmlns:a16="http://schemas.microsoft.com/office/drawing/2014/main" id="{E9BA28F9-FE9B-4426-B447-BCFC174DD7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38327" y="3073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sv-SE" sz="1800" dirty="0"/>
          </a:p>
        </p:txBody>
      </p:sp>
      <p:sp>
        <p:nvSpPr>
          <p:cNvPr id="13" name="AutoShape 60" descr="“kth logo”的图片搜索结果">
            <a:extLst>
              <a:ext uri="{FF2B5EF4-FFF2-40B4-BE49-F238E27FC236}">
                <a16:creationId xmlns:a16="http://schemas.microsoft.com/office/drawing/2014/main" id="{09B45A63-15BE-4626-8C2F-EA49EDBDE9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38327" y="30622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sv-SE" sz="1800" dirty="0"/>
          </a:p>
        </p:txBody>
      </p:sp>
    </p:spTree>
    <p:extLst>
      <p:ext uri="{BB962C8B-B14F-4D97-AF65-F5344CB8AC3E}">
        <p14:creationId xmlns:p14="http://schemas.microsoft.com/office/powerpoint/2010/main" val="185495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F8E619D-15B1-EBC2-DF4F-B40905116FE4}"/>
              </a:ext>
            </a:extLst>
          </p:cNvPr>
          <p:cNvSpPr txBox="1"/>
          <p:nvPr/>
        </p:nvSpPr>
        <p:spPr>
          <a:xfrm>
            <a:off x="967028" y="319665"/>
            <a:ext cx="10443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4F8A"/>
                </a:solidFill>
                <a:latin typeface="+mn-ea"/>
              </a:rPr>
              <a:t>从机器指令到集成开发环境：软件抽象与开发平台的演进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BD2FDCE-C328-F3FC-88F4-CBAA0D9B7703}"/>
              </a:ext>
            </a:extLst>
          </p:cNvPr>
          <p:cNvSpPr txBox="1"/>
          <p:nvPr/>
        </p:nvSpPr>
        <p:spPr>
          <a:xfrm>
            <a:off x="197093" y="972311"/>
            <a:ext cx="11495554" cy="511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+mn-ea"/>
              </a:rPr>
              <a:t>汇编和</a:t>
            </a:r>
            <a:r>
              <a:rPr lang="en-US" altLang="zh-CN" sz="2000" b="1" dirty="0">
                <a:latin typeface="+mn-ea"/>
              </a:rPr>
              <a:t>GCC</a:t>
            </a:r>
            <a:r>
              <a:rPr lang="zh-CN" altLang="en-US" sz="2000" b="1" dirty="0">
                <a:latin typeface="+mn-ea"/>
              </a:rPr>
              <a:t>：从最底层看，处理器只能直接执行机器指令。汇编语言是机器指令的可读表示形式，而</a:t>
            </a:r>
            <a:r>
              <a:rPr lang="en-US" altLang="zh-CN" sz="2000" b="1" dirty="0">
                <a:latin typeface="+mn-ea"/>
              </a:rPr>
              <a:t>GCC/</a:t>
            </a:r>
            <a:r>
              <a:rPr lang="zh-CN" altLang="en-US" sz="2000" b="1" dirty="0">
                <a:latin typeface="+mn-ea"/>
              </a:rPr>
              <a:t>交叉编译工具链则负责将汇编或高级语言程序编译、链接，并生成可执行映像。</a:t>
            </a:r>
            <a:endParaRPr lang="en-US" altLang="zh-CN" sz="2000" b="1" dirty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+mn-ea"/>
              </a:rPr>
              <a:t>从汇编到</a:t>
            </a:r>
            <a:r>
              <a:rPr lang="en-US" altLang="zh-CN" sz="2000" b="1" dirty="0">
                <a:latin typeface="+mn-ea"/>
              </a:rPr>
              <a:t>C</a:t>
            </a:r>
            <a:r>
              <a:rPr lang="zh-CN" altLang="en-US" sz="2000" b="1" dirty="0">
                <a:latin typeface="+mn-ea"/>
              </a:rPr>
              <a:t>语言：</a:t>
            </a:r>
            <a:r>
              <a:rPr lang="en-US" altLang="zh-CN" sz="2000" b="1" dirty="0">
                <a:latin typeface="+mn-ea"/>
              </a:rPr>
              <a:t>SDK</a:t>
            </a:r>
            <a:r>
              <a:rPr lang="zh-CN" altLang="en-US" sz="2000" b="1" dirty="0">
                <a:latin typeface="+mn-ea"/>
              </a:rPr>
              <a:t>的核心意义，是让开发者从“直接写指令”转向“使用</a:t>
            </a:r>
            <a:r>
              <a:rPr lang="en-US" altLang="zh-CN" sz="2000" b="1" dirty="0">
                <a:latin typeface="+mn-ea"/>
              </a:rPr>
              <a:t>C</a:t>
            </a:r>
            <a:r>
              <a:rPr lang="zh-CN" altLang="en-US" sz="2000" b="1" dirty="0">
                <a:latin typeface="+mn-ea"/>
              </a:rPr>
              <a:t>语言描述功能”。这样程序开发效率更高、可维护性更好，但相应地，对底层微架构状态和指令执行细节的可见性会减弱。</a:t>
            </a:r>
            <a:endParaRPr lang="en-US" altLang="zh-CN" sz="2000" b="1" dirty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+mn-ea"/>
              </a:rPr>
              <a:t>软件开发套件（</a:t>
            </a:r>
            <a:r>
              <a:rPr lang="en-US" altLang="zh-CN" sz="2000" b="1" dirty="0">
                <a:latin typeface="+mn-ea"/>
              </a:rPr>
              <a:t>Software</a:t>
            </a:r>
            <a:r>
              <a:rPr lang="zh-CN" altLang="en-US" sz="2000" b="1" dirty="0">
                <a:latin typeface="+mn-ea"/>
              </a:rPr>
              <a:t> </a:t>
            </a:r>
            <a:r>
              <a:rPr lang="en-US" altLang="zh-CN" sz="2000" b="1" dirty="0">
                <a:latin typeface="+mn-ea"/>
              </a:rPr>
              <a:t>Development Kit</a:t>
            </a:r>
            <a:r>
              <a:rPr lang="zh-CN" altLang="en-US" sz="2000" b="1" dirty="0">
                <a:latin typeface="+mn-ea"/>
              </a:rPr>
              <a:t>，</a:t>
            </a:r>
            <a:r>
              <a:rPr lang="en-US" altLang="zh-CN" sz="2000" b="1" dirty="0">
                <a:latin typeface="+mn-ea"/>
              </a:rPr>
              <a:t>SDK</a:t>
            </a:r>
            <a:r>
              <a:rPr lang="zh-CN" altLang="en-US" sz="2000" b="1" dirty="0">
                <a:latin typeface="+mn-ea"/>
              </a:rPr>
              <a:t>）：随着软件规模增大，直接使用汇编开发效率较低，因此进一步发展出</a:t>
            </a:r>
            <a:r>
              <a:rPr lang="en-US" altLang="zh-CN" sz="2000" b="1" dirty="0">
                <a:latin typeface="+mn-ea"/>
              </a:rPr>
              <a:t>SDK</a:t>
            </a:r>
            <a:r>
              <a:rPr lang="zh-CN" altLang="en-US" sz="2000" b="1" dirty="0">
                <a:latin typeface="+mn-ea"/>
              </a:rPr>
              <a:t>。</a:t>
            </a:r>
            <a:r>
              <a:rPr lang="en-US" altLang="zh-CN" sz="2000" b="1" dirty="0">
                <a:latin typeface="+mn-ea"/>
              </a:rPr>
              <a:t>SDK</a:t>
            </a:r>
            <a:r>
              <a:rPr lang="zh-CN" altLang="en-US" sz="2000" b="1" dirty="0">
                <a:latin typeface="+mn-ea"/>
              </a:rPr>
              <a:t>在工具链之外，提供了启动代码、链接脚本、头文件、驱动库、示例程序和构建脚本，使开发者可以更方便地完成嵌入式软件开发。</a:t>
            </a:r>
            <a:endParaRPr lang="en-US" altLang="zh-CN" sz="2000" b="1" dirty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+mn-ea"/>
              </a:rPr>
              <a:t>集成开发环境（</a:t>
            </a:r>
            <a:r>
              <a:rPr lang="en-US" altLang="zh-CN" sz="2000" b="1" dirty="0">
                <a:latin typeface="+mn-ea"/>
              </a:rPr>
              <a:t>Integrated Development Environment</a:t>
            </a:r>
            <a:r>
              <a:rPr lang="zh-CN" altLang="en-US" sz="2000" b="1" dirty="0">
                <a:latin typeface="+mn-ea"/>
              </a:rPr>
              <a:t>，</a:t>
            </a:r>
            <a:r>
              <a:rPr lang="en-US" altLang="zh-CN" sz="2000" b="1" dirty="0">
                <a:latin typeface="+mn-ea"/>
              </a:rPr>
              <a:t>IDE</a:t>
            </a:r>
            <a:r>
              <a:rPr lang="zh-CN" altLang="en-US" sz="2000" b="1" dirty="0">
                <a:latin typeface="+mn-ea"/>
              </a:rPr>
              <a:t>）： 在</a:t>
            </a:r>
            <a:r>
              <a:rPr lang="en-US" altLang="zh-CN" sz="2000" b="1" dirty="0">
                <a:latin typeface="+mn-ea"/>
              </a:rPr>
              <a:t>SDK</a:t>
            </a:r>
            <a:r>
              <a:rPr lang="zh-CN" altLang="en-US" sz="2000" b="1" dirty="0">
                <a:latin typeface="+mn-ea"/>
              </a:rPr>
              <a:t>之上，又逐渐发展出</a:t>
            </a:r>
            <a:r>
              <a:rPr lang="en-US" altLang="zh-CN" sz="2000" b="1" dirty="0">
                <a:latin typeface="+mn-ea"/>
              </a:rPr>
              <a:t>IDE</a:t>
            </a:r>
            <a:r>
              <a:rPr lang="zh-CN" altLang="en-US" sz="2000" b="1" dirty="0">
                <a:latin typeface="+mn-ea"/>
              </a:rPr>
              <a:t>。</a:t>
            </a:r>
            <a:r>
              <a:rPr lang="en-US" altLang="zh-CN" sz="2000" b="1" dirty="0">
                <a:latin typeface="+mn-ea"/>
              </a:rPr>
              <a:t>IDE</a:t>
            </a:r>
            <a:r>
              <a:rPr lang="zh-CN" altLang="en-US" sz="2000" b="1" dirty="0">
                <a:latin typeface="+mn-ea"/>
              </a:rPr>
              <a:t>将编辑、编译、下载、调试、工程管理等功能统一起来，使软件开发从“命令行工具链”进一步演进到“图形化、一体化开发平台”。</a:t>
            </a:r>
            <a:endParaRPr lang="en-US" altLang="zh-CN" sz="20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23212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表格&#10;&#10;描述已自动生成">
            <a:extLst>
              <a:ext uri="{FF2B5EF4-FFF2-40B4-BE49-F238E27FC236}">
                <a16:creationId xmlns:a16="http://schemas.microsoft.com/office/drawing/2014/main" id="{D042925C-8479-5149-7696-CB7CC6B24B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96" b="12147"/>
          <a:stretch/>
        </p:blipFill>
        <p:spPr>
          <a:xfrm>
            <a:off x="161208" y="1295400"/>
            <a:ext cx="11869583" cy="489296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FBEBD3F-086E-8CB3-D2B7-E104912B2D8A}"/>
              </a:ext>
            </a:extLst>
          </p:cNvPr>
          <p:cNvSpPr txBox="1"/>
          <p:nvPr/>
        </p:nvSpPr>
        <p:spPr>
          <a:xfrm>
            <a:off x="967028" y="319665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4F8A"/>
                </a:solidFill>
                <a:latin typeface="+mn-ea"/>
              </a:rPr>
              <a:t>软件开发与工具平台的协同演进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820393E-10E6-E0FE-29B7-0B6A30D41EF5}"/>
              </a:ext>
            </a:extLst>
          </p:cNvPr>
          <p:cNvSpPr txBox="1"/>
          <p:nvPr/>
        </p:nvSpPr>
        <p:spPr>
          <a:xfrm>
            <a:off x="258619" y="6353669"/>
            <a:ext cx="57450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+mn-ea"/>
              </a:rPr>
              <a:t>*</a:t>
            </a:r>
            <a:r>
              <a:rPr lang="zh-CN" altLang="en-US" sz="1600" dirty="0">
                <a:latin typeface="+mn-ea"/>
              </a:rPr>
              <a:t>图片为</a:t>
            </a:r>
            <a:r>
              <a:rPr lang="en-US" altLang="zh-CN" sz="1600" dirty="0">
                <a:latin typeface="+mn-ea"/>
              </a:rPr>
              <a:t>AI</a:t>
            </a:r>
            <a:r>
              <a:rPr lang="zh-CN" altLang="en-US" sz="1600" dirty="0">
                <a:latin typeface="+mn-ea"/>
              </a:rPr>
              <a:t>生成，可能存在错别字，仅参考发展思路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63530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RYH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54455</TotalTime>
  <Words>275</Words>
  <Application>Microsoft Office PowerPoint</Application>
  <PresentationFormat>宽屏</PresentationFormat>
  <Paragraphs>13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微软雅黑</vt:lpstr>
      <vt:lpstr>Arial</vt:lpstr>
      <vt:lpstr>Office 主题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张纯豪</dc:creator>
  <cp:lastModifiedBy>Yuhan He</cp:lastModifiedBy>
  <cp:revision>1301</cp:revision>
  <dcterms:created xsi:type="dcterms:W3CDTF">2019-08-29T13:51:18Z</dcterms:created>
  <dcterms:modified xsi:type="dcterms:W3CDTF">2026-04-20T08:58:43Z</dcterms:modified>
</cp:coreProperties>
</file>