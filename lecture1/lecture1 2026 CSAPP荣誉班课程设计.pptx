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2" r:id="rId2"/>
    <p:sldId id="306" r:id="rId3"/>
    <p:sldId id="305" r:id="rId4"/>
    <p:sldId id="300" r:id="rId5"/>
    <p:sldId id="307" r:id="rId6"/>
    <p:sldId id="30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46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F8A"/>
    <a:srgbClr val="000019"/>
    <a:srgbClr val="0088EE"/>
    <a:srgbClr val="5195D3"/>
    <a:srgbClr val="007AD6"/>
    <a:srgbClr val="0067B4"/>
    <a:srgbClr val="85BD5F"/>
    <a:srgbClr val="537F35"/>
    <a:srgbClr val="6AA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94660" autoAdjust="0"/>
  </p:normalViewPr>
  <p:slideViewPr>
    <p:cSldViewPr snapToGrid="0">
      <p:cViewPr varScale="1">
        <p:scale>
          <a:sx n="104" d="100"/>
          <a:sy n="104" d="100"/>
        </p:scale>
        <p:origin x="1146" y="11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CFFE8-8FC9-4599-B99A-BD3C0BAF46D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7FDF-C261-4D64-8B14-5847BB653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88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F7FDF-C261-4D64-8B14-5847BB65348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639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7">
            <a:extLst>
              <a:ext uri="{FF2B5EF4-FFF2-40B4-BE49-F238E27FC236}">
                <a16:creationId xmlns:a16="http://schemas.microsoft.com/office/drawing/2014/main" id="{BC4DA297-0F89-4FBD-8951-873E4C5F4833}"/>
              </a:ext>
            </a:extLst>
          </p:cNvPr>
          <p:cNvSpPr/>
          <p:nvPr userDrawn="1"/>
        </p:nvSpPr>
        <p:spPr>
          <a:xfrm>
            <a:off x="0" y="71438"/>
            <a:ext cx="1095375" cy="914400"/>
          </a:xfrm>
          <a:custGeom>
            <a:avLst/>
            <a:gdLst>
              <a:gd name="connsiteX0" fmla="*/ 0 w 1095825"/>
              <a:gd name="connsiteY0" fmla="*/ 0 h 914400"/>
              <a:gd name="connsiteX1" fmla="*/ 1095825 w 1095825"/>
              <a:gd name="connsiteY1" fmla="*/ 0 h 914400"/>
              <a:gd name="connsiteX2" fmla="*/ 608144 w 1095825"/>
              <a:gd name="connsiteY2" fmla="*/ 914400 h 914400"/>
              <a:gd name="connsiteX3" fmla="*/ 0 w 1095825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5825" h="914400">
                <a:moveTo>
                  <a:pt x="0" y="0"/>
                </a:moveTo>
                <a:lnTo>
                  <a:pt x="1095825" y="0"/>
                </a:lnTo>
                <a:lnTo>
                  <a:pt x="608144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E5522A88-BC90-4E7A-A97A-98C6953F07C0}"/>
              </a:ext>
            </a:extLst>
          </p:cNvPr>
          <p:cNvSpPr/>
          <p:nvPr userDrawn="1"/>
        </p:nvSpPr>
        <p:spPr>
          <a:xfrm>
            <a:off x="0" y="-1587"/>
            <a:ext cx="12192000" cy="73025"/>
          </a:xfrm>
          <a:prstGeom prst="rect">
            <a:avLst/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9" name="图片 10">
            <a:extLst>
              <a:ext uri="{FF2B5EF4-FFF2-40B4-BE49-F238E27FC236}">
                <a16:creationId xmlns:a16="http://schemas.microsoft.com/office/drawing/2014/main" id="{AF0F397E-720B-4A1D-9362-6977186269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238125"/>
            <a:ext cx="52863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CEAA347-679E-4E4B-89F0-7CEEAE75F2F1}"/>
              </a:ext>
            </a:extLst>
          </p:cNvPr>
          <p:cNvSpPr/>
          <p:nvPr userDrawn="1"/>
        </p:nvSpPr>
        <p:spPr>
          <a:xfrm>
            <a:off x="0" y="6784975"/>
            <a:ext cx="12192000" cy="73025"/>
          </a:xfrm>
          <a:prstGeom prst="rect">
            <a:avLst/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282E52F3-72B0-4C71-887B-33F60E7CE2B5}"/>
              </a:ext>
            </a:extLst>
          </p:cNvPr>
          <p:cNvSpPr txBox="1">
            <a:spLocks/>
          </p:cNvSpPr>
          <p:nvPr userDrawn="1"/>
        </p:nvSpPr>
        <p:spPr>
          <a:xfrm>
            <a:off x="11619457" y="6329363"/>
            <a:ext cx="19431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891ECF5-5718-4DCF-858F-8314BFFB6E47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250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scv-mcu/e203_hbirdv2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10">
            <a:extLst>
              <a:ext uri="{FF2B5EF4-FFF2-40B4-BE49-F238E27FC236}">
                <a16:creationId xmlns:a16="http://schemas.microsoft.com/office/drawing/2014/main" id="{0884A440-B3F8-4DEB-AC23-AD6BF5FA87DA}"/>
              </a:ext>
            </a:extLst>
          </p:cNvPr>
          <p:cNvSpPr/>
          <p:nvPr/>
        </p:nvSpPr>
        <p:spPr>
          <a:xfrm>
            <a:off x="-5273" y="1769900"/>
            <a:ext cx="12192001" cy="1952952"/>
          </a:xfrm>
          <a:prstGeom prst="roundRect">
            <a:avLst>
              <a:gd name="adj" fmla="val 0"/>
            </a:avLst>
          </a:prstGeom>
          <a:solidFill>
            <a:srgbClr val="004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latin typeface="+mj-ea"/>
                <a:ea typeface="+mj-ea"/>
                <a:cs typeface="Arial" panose="020B0604020202020204" pitchFamily="34" charset="0"/>
              </a:rPr>
              <a:t>荣誉班课程设计</a:t>
            </a:r>
            <a:endParaRPr lang="en-US" altLang="zh-CN" sz="44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CCBF614-8847-4C72-9B5E-E5820E997344}"/>
              </a:ext>
            </a:extLst>
          </p:cNvPr>
          <p:cNvSpPr txBox="1">
            <a:spLocks noChangeArrowheads="1"/>
          </p:cNvSpPr>
          <p:nvPr/>
        </p:nvSpPr>
        <p:spPr>
          <a:xfrm>
            <a:off x="4226463" y="4111624"/>
            <a:ext cx="3739073" cy="156527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spcBef>
                <a:spcPct val="20000"/>
              </a:spcBef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latin typeface="+mn-ea"/>
              </a:rPr>
              <a:t>何雨涵</a:t>
            </a:r>
            <a:endParaRPr lang="en-US" altLang="zh-CN" sz="2000" b="1" dirty="0">
              <a:latin typeface="+mn-ea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sv-SE" sz="2000" dirty="0">
                <a:latin typeface="+mn-ea"/>
              </a:rPr>
              <a:t>heyh25@m.fudan.edu.cn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+mn-ea"/>
              </a:rPr>
              <a:t>信息科学与工程学院</a:t>
            </a:r>
            <a:endParaRPr lang="en-US" altLang="zh-CN" sz="2000" dirty="0">
              <a:latin typeface="+mn-ea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sv-SE" sz="2000">
                <a:latin typeface="+mn-ea"/>
              </a:rPr>
              <a:t>2026.4.13</a:t>
            </a:r>
            <a:endParaRPr lang="en-US" altLang="sv-SE" sz="2000" dirty="0">
              <a:latin typeface="+mn-ea"/>
            </a:endParaRPr>
          </a:p>
        </p:txBody>
      </p:sp>
      <p:sp>
        <p:nvSpPr>
          <p:cNvPr id="11" name="AutoShape 56" descr="“kth logo”的图片搜索结果">
            <a:extLst>
              <a:ext uri="{FF2B5EF4-FFF2-40B4-BE49-F238E27FC236}">
                <a16:creationId xmlns:a16="http://schemas.microsoft.com/office/drawing/2014/main" id="{E8CC6F9D-09C6-49AD-9449-BF42FEF861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8327" y="3073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sv-SE" sz="1800" dirty="0"/>
          </a:p>
        </p:txBody>
      </p:sp>
      <p:sp>
        <p:nvSpPr>
          <p:cNvPr id="12" name="AutoShape 58" descr="“kth logo”的图片搜索结果">
            <a:extLst>
              <a:ext uri="{FF2B5EF4-FFF2-40B4-BE49-F238E27FC236}">
                <a16:creationId xmlns:a16="http://schemas.microsoft.com/office/drawing/2014/main" id="{E9BA28F9-FE9B-4426-B447-BCFC174DD7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8327" y="3073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sv-SE" sz="1800" dirty="0"/>
          </a:p>
        </p:txBody>
      </p:sp>
      <p:sp>
        <p:nvSpPr>
          <p:cNvPr id="13" name="AutoShape 60" descr="“kth logo”的图片搜索结果">
            <a:extLst>
              <a:ext uri="{FF2B5EF4-FFF2-40B4-BE49-F238E27FC236}">
                <a16:creationId xmlns:a16="http://schemas.microsoft.com/office/drawing/2014/main" id="{09B45A63-15BE-4626-8C2F-EA49EDBDE9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8327" y="30622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sv-SE" sz="1800" dirty="0"/>
          </a:p>
        </p:txBody>
      </p:sp>
    </p:spTree>
    <p:extLst>
      <p:ext uri="{BB962C8B-B14F-4D97-AF65-F5344CB8AC3E}">
        <p14:creationId xmlns:p14="http://schemas.microsoft.com/office/powerpoint/2010/main" val="185495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F8E619D-15B1-EBC2-DF4F-B40905116FE4}"/>
              </a:ext>
            </a:extLst>
          </p:cNvPr>
          <p:cNvSpPr txBox="1"/>
          <p:nvPr/>
        </p:nvSpPr>
        <p:spPr>
          <a:xfrm>
            <a:off x="967028" y="319665"/>
            <a:ext cx="17059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4F8A"/>
                </a:solidFill>
                <a:latin typeface="+mn-ea"/>
              </a:rPr>
              <a:t>Outline</a:t>
            </a:r>
            <a:endParaRPr lang="zh-CN" altLang="en-US" sz="3200" b="1" dirty="0">
              <a:solidFill>
                <a:srgbClr val="004F8A"/>
              </a:solidFill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D2FDCE-C328-F3FC-88F4-CBAA0D9B7703}"/>
              </a:ext>
            </a:extLst>
          </p:cNvPr>
          <p:cNvSpPr txBox="1"/>
          <p:nvPr/>
        </p:nvSpPr>
        <p:spPr>
          <a:xfrm>
            <a:off x="197093" y="972311"/>
            <a:ext cx="11495554" cy="2346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n-ea"/>
              </a:rPr>
              <a:t>课程任务</a:t>
            </a:r>
            <a:endParaRPr lang="en-US" altLang="zh-CN" sz="2000" b="1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n-ea"/>
              </a:rPr>
              <a:t>蜂鸟</a:t>
            </a:r>
            <a:r>
              <a:rPr lang="en-US" altLang="zh-CN" sz="2000" b="1" dirty="0">
                <a:latin typeface="+mn-ea"/>
              </a:rPr>
              <a:t>e203</a:t>
            </a:r>
            <a:r>
              <a:rPr lang="zh-CN" altLang="en-US" sz="2000" b="1" dirty="0">
                <a:latin typeface="+mn-ea"/>
              </a:rPr>
              <a:t>处理器</a:t>
            </a:r>
            <a:endParaRPr lang="en-US" altLang="zh-CN" sz="2000" b="1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n-ea"/>
              </a:rPr>
              <a:t>软件仿真</a:t>
            </a:r>
            <a:endParaRPr lang="en-US" altLang="zh-CN" sz="2000" b="1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n-ea"/>
              </a:rPr>
              <a:t>任务：运行用户程序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3212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6980ADA-C602-3168-2B3C-89C32F253315}"/>
              </a:ext>
            </a:extLst>
          </p:cNvPr>
          <p:cNvSpPr txBox="1"/>
          <p:nvPr/>
        </p:nvSpPr>
        <p:spPr>
          <a:xfrm>
            <a:off x="967028" y="31966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F8A"/>
                </a:solidFill>
                <a:latin typeface="+mn-ea"/>
              </a:rPr>
              <a:t>课程任务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727EC1-813D-E24D-D43C-B38E1C74AAD7}"/>
              </a:ext>
            </a:extLst>
          </p:cNvPr>
          <p:cNvSpPr txBox="1"/>
          <p:nvPr/>
        </p:nvSpPr>
        <p:spPr>
          <a:xfrm>
            <a:off x="197093" y="1709731"/>
            <a:ext cx="11495554" cy="3269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1. </a:t>
            </a:r>
            <a:r>
              <a:rPr lang="zh-CN" altLang="en-US" sz="2000" b="1" dirty="0">
                <a:latin typeface="+mn-ea"/>
              </a:rPr>
              <a:t>分支预测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2. Cache</a:t>
            </a:r>
            <a:r>
              <a:rPr lang="zh-CN" altLang="en-US" sz="2000" b="1" dirty="0">
                <a:latin typeface="+mn-ea"/>
              </a:rPr>
              <a:t>设计实现与访存优化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3. </a:t>
            </a:r>
            <a:r>
              <a:rPr lang="zh-CN" altLang="en-US" sz="2000" b="1" dirty="0">
                <a:latin typeface="+mn-ea"/>
              </a:rPr>
              <a:t>指数运算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乘除运算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浮点运算加速核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4. </a:t>
            </a:r>
            <a:r>
              <a:rPr lang="zh-CN" altLang="en-US" sz="2000" b="1" dirty="0">
                <a:latin typeface="+mn-ea"/>
              </a:rPr>
              <a:t>多流水级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多发射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乱序执行等微架构优化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5. </a:t>
            </a:r>
            <a:r>
              <a:rPr lang="zh-CN" altLang="en-US" sz="2000" b="1" dirty="0">
                <a:latin typeface="+mn-ea"/>
              </a:rPr>
              <a:t>协同</a:t>
            </a:r>
            <a:r>
              <a:rPr lang="en-US" altLang="zh-CN" sz="2000" b="1" dirty="0">
                <a:latin typeface="+mn-ea"/>
              </a:rPr>
              <a:t>FPGA</a:t>
            </a:r>
            <a:r>
              <a:rPr lang="zh-CN" altLang="en-US" sz="2000" b="1" dirty="0">
                <a:latin typeface="+mn-ea"/>
              </a:rPr>
              <a:t>板上外设做应用开发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6. LLM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算子加速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数据流设计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访存优化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...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61642A-21FA-3416-3F44-CCB0893CDA65}"/>
              </a:ext>
            </a:extLst>
          </p:cNvPr>
          <p:cNvSpPr txBox="1"/>
          <p:nvPr/>
        </p:nvSpPr>
        <p:spPr>
          <a:xfrm>
            <a:off x="197093" y="1022799"/>
            <a:ext cx="1149555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+mn-ea"/>
              </a:rPr>
              <a:t>两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三人一组，在熟悉蜂鸟</a:t>
            </a:r>
            <a:r>
              <a:rPr lang="en-US" altLang="zh-CN" sz="2000" b="1" dirty="0">
                <a:latin typeface="+mn-ea"/>
              </a:rPr>
              <a:t>e203</a:t>
            </a:r>
            <a:r>
              <a:rPr lang="zh-CN" altLang="en-US" sz="2000" b="1" dirty="0">
                <a:latin typeface="+mn-ea"/>
              </a:rPr>
              <a:t>处理器设计的基础上进行扩展，可以考虑的方向如下</a:t>
            </a:r>
            <a:endParaRPr lang="en-US" altLang="zh-CN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2935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1C50E8C-C8EF-010C-27D3-62B93B32D1E7}"/>
              </a:ext>
            </a:extLst>
          </p:cNvPr>
          <p:cNvSpPr txBox="1"/>
          <p:nvPr/>
        </p:nvSpPr>
        <p:spPr>
          <a:xfrm>
            <a:off x="967028" y="319665"/>
            <a:ext cx="4055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F8A"/>
                </a:solidFill>
                <a:latin typeface="+mn-ea"/>
              </a:rPr>
              <a:t>蜂鸟</a:t>
            </a:r>
            <a:r>
              <a:rPr lang="en-US" altLang="zh-CN" sz="3200" b="1" dirty="0">
                <a:solidFill>
                  <a:srgbClr val="004F8A"/>
                </a:solidFill>
                <a:latin typeface="+mn-ea"/>
              </a:rPr>
              <a:t>e203</a:t>
            </a:r>
            <a:r>
              <a:rPr lang="zh-CN" altLang="en-US" sz="3200" b="1" dirty="0">
                <a:solidFill>
                  <a:srgbClr val="004F8A"/>
                </a:solidFill>
                <a:latin typeface="+mn-ea"/>
              </a:rPr>
              <a:t>开源处理器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7B73F6-0E36-03DB-3DC6-3427A1D32C0D}"/>
              </a:ext>
            </a:extLst>
          </p:cNvPr>
          <p:cNvSpPr txBox="1"/>
          <p:nvPr/>
        </p:nvSpPr>
        <p:spPr>
          <a:xfrm>
            <a:off x="481781" y="2140497"/>
            <a:ext cx="7127939" cy="2346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两级流水线、轻量化高能效设计</a:t>
            </a:r>
            <a:endParaRPr lang="en-US" altLang="zh-CN" sz="20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采用哈佛架构，程序和数据单独存储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每个存储器独立编址、独立访问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使用数据总线和指令总线独立连接两个存储器到内核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取址和执行并行处理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FDC00B-8746-3368-E782-126937511EA0}"/>
              </a:ext>
            </a:extLst>
          </p:cNvPr>
          <p:cNvSpPr txBox="1"/>
          <p:nvPr/>
        </p:nvSpPr>
        <p:spPr>
          <a:xfrm>
            <a:off x="481781" y="1041824"/>
            <a:ext cx="11228438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effectLst/>
                <a:latin typeface="+mn-ea"/>
              </a:rPr>
              <a:t>蜂鸟</a:t>
            </a:r>
            <a:r>
              <a:rPr lang="en-US" altLang="zh-CN" sz="2000" b="1" dirty="0">
                <a:effectLst/>
                <a:latin typeface="+mn-ea"/>
              </a:rPr>
              <a:t>E203</a:t>
            </a:r>
            <a:r>
              <a:rPr lang="zh-CN" altLang="en-US" sz="2000" b="1" dirty="0">
                <a:effectLst/>
                <a:latin typeface="+mn-ea"/>
              </a:rPr>
              <a:t>处理器由芯来科技开发，是国内第一个完善的开源</a:t>
            </a:r>
            <a:r>
              <a:rPr lang="en-US" altLang="zh-CN" sz="2000" b="1" dirty="0">
                <a:effectLst/>
                <a:latin typeface="+mn-ea"/>
              </a:rPr>
              <a:t>RISC-V</a:t>
            </a:r>
            <a:r>
              <a:rPr lang="zh-CN" altLang="en-US" sz="2000" b="1" dirty="0">
                <a:effectLst/>
                <a:latin typeface="+mn-ea"/>
              </a:rPr>
              <a:t>处理器项目，提供了一套从模块到</a:t>
            </a:r>
            <a:r>
              <a:rPr lang="en-US" altLang="zh-CN" sz="2000" b="1" dirty="0">
                <a:effectLst/>
                <a:latin typeface="+mn-ea"/>
              </a:rPr>
              <a:t>SoC</a:t>
            </a:r>
            <a:r>
              <a:rPr lang="zh-CN" altLang="en-US" sz="2000" b="1" dirty="0">
                <a:effectLst/>
                <a:latin typeface="+mn-ea"/>
              </a:rPr>
              <a:t>，从硬件到软件，从运行到调试的完整解决方案，并且配备完整的文档，书籍和开发板。</a:t>
            </a:r>
            <a:endParaRPr lang="zh-CN" alt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8851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C93BA9F-91C0-D245-18EF-A1B6CD8F45B8}"/>
              </a:ext>
            </a:extLst>
          </p:cNvPr>
          <p:cNvSpPr txBox="1"/>
          <p:nvPr/>
        </p:nvSpPr>
        <p:spPr>
          <a:xfrm>
            <a:off x="967028" y="319665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F8A"/>
                </a:solidFill>
                <a:latin typeface="+mn-ea"/>
              </a:rPr>
              <a:t>运行软件仿真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3A06CD-3EFA-8850-71C8-6EC5A9886BF9}"/>
              </a:ext>
            </a:extLst>
          </p:cNvPr>
          <p:cNvSpPr txBox="1"/>
          <p:nvPr/>
        </p:nvSpPr>
        <p:spPr>
          <a:xfrm>
            <a:off x="1608747" y="1106865"/>
            <a:ext cx="8974505" cy="465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E203 SoC</a:t>
            </a:r>
            <a:r>
              <a:rPr lang="zh-CN" altLang="en-US" sz="2000" b="1" dirty="0"/>
              <a:t>仓库地址：</a:t>
            </a:r>
            <a:r>
              <a:rPr lang="en-US" altLang="zh-CN" sz="2000" b="1" dirty="0">
                <a:hlinkClick r:id="rId2"/>
              </a:rPr>
              <a:t>https://github.com/riscv-mcu/e203_hbirdv2</a:t>
            </a:r>
            <a:endParaRPr lang="en-US" altLang="zh-CN" sz="2000" b="1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2000" b="1" dirty="0"/>
              <a:t>E</a:t>
            </a:r>
            <a:r>
              <a:rPr lang="zh-CN" altLang="zh-CN" sz="2000" b="1" dirty="0"/>
              <a:t>203核源码目录：rtl/e203/core/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2000" b="1" dirty="0"/>
              <a:t>通用模块目录：rtl/e203/general/ </a:t>
            </a:r>
            <a:endParaRPr lang="en-US" altLang="zh-CN" sz="2000" b="1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2000" b="1" dirty="0" err="1"/>
              <a:t>iVerilog</a:t>
            </a:r>
            <a:r>
              <a:rPr lang="zh-CN" altLang="en-US" sz="2000" b="1" dirty="0"/>
              <a:t>：按照文档命令安装</a:t>
            </a:r>
            <a:endParaRPr lang="es-ES" altLang="zh-CN" sz="2000" b="1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2000" b="1" dirty="0" err="1"/>
              <a:t>GTKWave</a:t>
            </a:r>
            <a:r>
              <a:rPr lang="zh-CN" altLang="en-US" sz="2000" b="1" dirty="0"/>
              <a:t>：</a:t>
            </a:r>
            <a:r>
              <a:rPr lang="es-ES" altLang="zh-CN" sz="2000" b="1" dirty="0"/>
              <a:t>sudo apt install -y gtkwave</a:t>
            </a:r>
            <a:endParaRPr lang="zh-CN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RISC-V GNU</a:t>
            </a:r>
            <a:r>
              <a:rPr lang="zh-CN" altLang="en-US" sz="2000" b="1" dirty="0"/>
              <a:t>工具链：</a:t>
            </a:r>
            <a:r>
              <a:rPr lang="en-US" altLang="zh-CN" sz="2000" b="1" dirty="0"/>
              <a:t>https://www.nucleisys.com/download.php</a:t>
            </a:r>
          </a:p>
          <a:p>
            <a:pPr>
              <a:lnSpc>
                <a:spcPct val="150000"/>
              </a:lnSpc>
            </a:pP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clone</a:t>
            </a:r>
            <a:r>
              <a:rPr lang="zh-CN" altLang="en-US" sz="2000" b="1" dirty="0"/>
              <a:t>工程文件</a:t>
            </a:r>
            <a:r>
              <a:rPr lang="en-US" altLang="zh-CN" sz="2000" b="1" dirty="0"/>
              <a:t>-&gt;</a:t>
            </a:r>
            <a:r>
              <a:rPr lang="zh-CN" altLang="en-US" sz="2000" b="1" dirty="0"/>
              <a:t>芯来工具链编译</a:t>
            </a:r>
            <a:r>
              <a:rPr lang="en-US" altLang="zh-CN" sz="2000" b="1" dirty="0"/>
              <a:t>-&gt;</a:t>
            </a:r>
            <a:r>
              <a:rPr lang="en-US" altLang="zh-CN" sz="2000" b="1" dirty="0" err="1"/>
              <a:t>iverilog</a:t>
            </a:r>
            <a:r>
              <a:rPr lang="zh-CN" altLang="en-US" sz="2000" b="1" dirty="0"/>
              <a:t>仿真</a:t>
            </a:r>
            <a:r>
              <a:rPr lang="en-US" altLang="zh-CN" sz="2000" b="1" dirty="0"/>
              <a:t>-&gt;</a:t>
            </a:r>
            <a:r>
              <a:rPr lang="zh-CN" altLang="en-US" sz="2000" b="1" dirty="0"/>
              <a:t>测试报告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自己尝试运行用户程序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010871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CF098B7-7B30-8A80-A95E-5A3B3F94EF47}"/>
              </a:ext>
            </a:extLst>
          </p:cNvPr>
          <p:cNvSpPr txBox="1"/>
          <p:nvPr/>
        </p:nvSpPr>
        <p:spPr>
          <a:xfrm>
            <a:off x="967028" y="31966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4F8A"/>
                </a:solidFill>
                <a:latin typeface="+mn-ea"/>
              </a:rPr>
              <a:t>时间节点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5C70F93-730B-534A-17EE-743BC7B96CB7}"/>
              </a:ext>
            </a:extLst>
          </p:cNvPr>
          <p:cNvCxnSpPr>
            <a:cxnSpLocks/>
          </p:cNvCxnSpPr>
          <p:nvPr/>
        </p:nvCxnSpPr>
        <p:spPr>
          <a:xfrm>
            <a:off x="2239818" y="3278909"/>
            <a:ext cx="771236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85E7660-E91F-1C54-A7AC-DD755E299434}"/>
              </a:ext>
            </a:extLst>
          </p:cNvPr>
          <p:cNvSpPr txBox="1"/>
          <p:nvPr/>
        </p:nvSpPr>
        <p:spPr>
          <a:xfrm>
            <a:off x="9398742" y="2744872"/>
            <a:ext cx="1280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时间</a:t>
            </a:r>
            <a:endParaRPr lang="zh-CN" altLang="zh-CN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031A63-1482-477F-2CD4-05861E2C3D4D}"/>
              </a:ext>
            </a:extLst>
          </p:cNvPr>
          <p:cNvSpPr txBox="1"/>
          <p:nvPr/>
        </p:nvSpPr>
        <p:spPr>
          <a:xfrm>
            <a:off x="1856212" y="3429000"/>
            <a:ext cx="1601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了解</a:t>
            </a:r>
            <a:r>
              <a:rPr lang="en-US" altLang="zh-CN" sz="2000" b="1" dirty="0"/>
              <a:t>e203</a:t>
            </a:r>
            <a:endParaRPr lang="zh-CN" altLang="zh-CN" sz="2000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9F92549-AEFE-4DE7-64F1-43FB05EA4C38}"/>
              </a:ext>
            </a:extLst>
          </p:cNvPr>
          <p:cNvSpPr/>
          <p:nvPr/>
        </p:nvSpPr>
        <p:spPr>
          <a:xfrm>
            <a:off x="2520784" y="3142673"/>
            <a:ext cx="272471" cy="272471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B9CFA95-0A34-52F5-80DF-1600B85B4B12}"/>
              </a:ext>
            </a:extLst>
          </p:cNvPr>
          <p:cNvSpPr/>
          <p:nvPr/>
        </p:nvSpPr>
        <p:spPr>
          <a:xfrm>
            <a:off x="5222489" y="3142673"/>
            <a:ext cx="272471" cy="272471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A71BBB5-B87B-2998-D5C3-97FF11E7825C}"/>
              </a:ext>
            </a:extLst>
          </p:cNvPr>
          <p:cNvSpPr/>
          <p:nvPr/>
        </p:nvSpPr>
        <p:spPr>
          <a:xfrm>
            <a:off x="8766875" y="3142673"/>
            <a:ext cx="272471" cy="272471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3DDD915-9CE4-3988-CDF6-D194DFBFE079}"/>
              </a:ext>
            </a:extLst>
          </p:cNvPr>
          <p:cNvSpPr txBox="1"/>
          <p:nvPr/>
        </p:nvSpPr>
        <p:spPr>
          <a:xfrm>
            <a:off x="2016657" y="2735635"/>
            <a:ext cx="1280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/>
              <a:t>4.13</a:t>
            </a:r>
            <a:endParaRPr lang="zh-CN" altLang="zh-CN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9DEAA7F-D809-F965-7682-55BA925A89A5}"/>
              </a:ext>
            </a:extLst>
          </p:cNvPr>
          <p:cNvSpPr txBox="1"/>
          <p:nvPr/>
        </p:nvSpPr>
        <p:spPr>
          <a:xfrm>
            <a:off x="4718361" y="2735635"/>
            <a:ext cx="1280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/>
              <a:t>5.11</a:t>
            </a:r>
            <a:endParaRPr lang="zh-CN" altLang="zh-CN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570F756-77D7-27AF-725E-3344E93744D2}"/>
              </a:ext>
            </a:extLst>
          </p:cNvPr>
          <p:cNvSpPr txBox="1"/>
          <p:nvPr/>
        </p:nvSpPr>
        <p:spPr>
          <a:xfrm>
            <a:off x="4323877" y="3429000"/>
            <a:ext cx="20696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工程移植和</a:t>
            </a:r>
            <a:r>
              <a:rPr lang="en-US" altLang="zh-CN" sz="2000" b="1" dirty="0"/>
              <a:t>FPGA</a:t>
            </a:r>
            <a:r>
              <a:rPr lang="zh-CN" altLang="en-US" sz="2000" b="1" dirty="0"/>
              <a:t>上板</a:t>
            </a:r>
            <a:endParaRPr lang="zh-CN" altLang="zh-CN" sz="2000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4B337C-515C-77BE-0EDF-F1B50C753485}"/>
              </a:ext>
            </a:extLst>
          </p:cNvPr>
          <p:cNvSpPr txBox="1"/>
          <p:nvPr/>
        </p:nvSpPr>
        <p:spPr>
          <a:xfrm>
            <a:off x="8254250" y="2735635"/>
            <a:ext cx="1280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待定</a:t>
            </a:r>
            <a:endParaRPr lang="zh-CN" altLang="zh-CN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53CB86-6312-753F-7470-BDCB2736E047}"/>
              </a:ext>
            </a:extLst>
          </p:cNvPr>
          <p:cNvSpPr txBox="1"/>
          <p:nvPr/>
        </p:nvSpPr>
        <p:spPr>
          <a:xfrm>
            <a:off x="7859765" y="3429000"/>
            <a:ext cx="2069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项目总结汇报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072454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RYH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54411</TotalTime>
  <Words>335</Words>
  <Application>Microsoft Office PowerPoint</Application>
  <PresentationFormat>宽屏</PresentationFormat>
  <Paragraphs>45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微软雅黑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张纯豪</dc:creator>
  <cp:lastModifiedBy>Yuhan He</cp:lastModifiedBy>
  <cp:revision>1280</cp:revision>
  <dcterms:created xsi:type="dcterms:W3CDTF">2019-08-29T13:51:18Z</dcterms:created>
  <dcterms:modified xsi:type="dcterms:W3CDTF">2026-04-11T09:50:44Z</dcterms:modified>
</cp:coreProperties>
</file>